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43" r:id="rId1"/>
  </p:sldMasterIdLst>
  <p:notesMasterIdLst>
    <p:notesMasterId r:id="rId31"/>
  </p:notesMasterIdLst>
  <p:sldIdLst>
    <p:sldId id="300" r:id="rId2"/>
    <p:sldId id="272" r:id="rId3"/>
    <p:sldId id="276" r:id="rId4"/>
    <p:sldId id="277" r:id="rId5"/>
    <p:sldId id="279" r:id="rId6"/>
    <p:sldId id="305" r:id="rId7"/>
    <p:sldId id="301" r:id="rId8"/>
    <p:sldId id="308" r:id="rId9"/>
    <p:sldId id="306" r:id="rId10"/>
    <p:sldId id="307" r:id="rId11"/>
    <p:sldId id="302" r:id="rId12"/>
    <p:sldId id="303" r:id="rId13"/>
    <p:sldId id="309" r:id="rId14"/>
    <p:sldId id="310" r:id="rId15"/>
    <p:sldId id="311" r:id="rId16"/>
    <p:sldId id="312" r:id="rId17"/>
    <p:sldId id="313" r:id="rId18"/>
    <p:sldId id="315" r:id="rId19"/>
    <p:sldId id="314" r:id="rId20"/>
    <p:sldId id="318" r:id="rId21"/>
    <p:sldId id="316" r:id="rId22"/>
    <p:sldId id="317" r:id="rId23"/>
    <p:sldId id="319" r:id="rId24"/>
    <p:sldId id="330" r:id="rId25"/>
    <p:sldId id="320" r:id="rId26"/>
    <p:sldId id="329" r:id="rId27"/>
    <p:sldId id="326" r:id="rId28"/>
    <p:sldId id="327" r:id="rId29"/>
    <p:sldId id="32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EADD87-C2F0-4834-9B2E-A32558B30EBD}" v="1" dt="2026-09-12T14:01:34.1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tribaa Raulji" userId="f12d3a86388eaa16" providerId="LiveId" clId="{DABFF32A-8BB2-4B55-8612-7E3C0C37B575}"/>
    <pc:docChg chg="modSld">
      <pc:chgData name="Maitribaa Raulji" userId="f12d3a86388eaa16" providerId="LiveId" clId="{DABFF32A-8BB2-4B55-8612-7E3C0C37B575}" dt="2026-09-12T14:01:34.164" v="0"/>
      <pc:docMkLst>
        <pc:docMk/>
      </pc:docMkLst>
      <pc:sldChg chg="modSp">
        <pc:chgData name="Maitribaa Raulji" userId="f12d3a86388eaa16" providerId="LiveId" clId="{DABFF32A-8BB2-4B55-8612-7E3C0C37B575}" dt="2026-09-12T14:01:34.164" v="0"/>
        <pc:sldMkLst>
          <pc:docMk/>
          <pc:sldMk cId="1557267673" sldId="320"/>
        </pc:sldMkLst>
        <pc:spChg chg="mod">
          <ac:chgData name="Maitribaa Raulji" userId="f12d3a86388eaa16" providerId="LiveId" clId="{DABFF32A-8BB2-4B55-8612-7E3C0C37B575}" dt="2026-09-12T14:01:34.164" v="0"/>
          <ac:spMkLst>
            <pc:docMk/>
            <pc:sldMk cId="1557267673" sldId="320"/>
            <ac:spMk id="3" creationId="{6110393F-DDA4-45E4-8816-2DF248FCB21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F5C6C-5A67-426A-9995-A4A83110CA7F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786780-4433-4002-9639-8A9384775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447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86780-4433-4002-9639-8A9384775FA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674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86780-4433-4002-9639-8A9384775FA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425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86780-4433-4002-9639-8A9384775FA3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194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422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16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169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2120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315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3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65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014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44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05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87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39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64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77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09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48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208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530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0661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17227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795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7162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0315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844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700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51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618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AEFDC-BC67-38F6-2357-D3E4E58B5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3DC042-32F4-E0F9-2243-57E89651B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991C3-BA69-1FD7-B318-544C192E6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20F2F-6438-BFA5-1657-66948C54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6C33A-C6CA-67B2-2796-32C9D4F19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884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7B0D3-09A3-6250-3B79-D0F5ACDE0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2043F-6D2F-1B9A-57D7-AF26977FC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705D4-ACC3-60F8-3AB3-27B5393D0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86DF-0C18-811E-B816-521F00583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EF913-2E8F-2F94-9840-FA0FA7036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32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507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4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  <p:sldLayoutId id="2147484055" r:id="rId12"/>
    <p:sldLayoutId id="2147484056" r:id="rId13"/>
    <p:sldLayoutId id="2147484057" r:id="rId14"/>
    <p:sldLayoutId id="2147484058" r:id="rId15"/>
    <p:sldLayoutId id="2147484059" r:id="rId16"/>
    <p:sldLayoutId id="2147484060" r:id="rId17"/>
    <p:sldLayoutId id="2147484061" r:id="rId18"/>
    <p:sldLayoutId id="2147484062" r:id="rId19"/>
    <p:sldLayoutId id="2147484063" r:id="rId20"/>
    <p:sldLayoutId id="2147484064" r:id="rId21"/>
    <p:sldLayoutId id="2147484065" r:id="rId22"/>
    <p:sldLayoutId id="2147484066" r:id="rId23"/>
    <p:sldLayoutId id="2147484067" r:id="rId24"/>
    <p:sldLayoutId id="2147484068" r:id="rId25"/>
    <p:sldLayoutId id="2147484069" r:id="rId26"/>
    <p:sldLayoutId id="2147484070" r:id="rId27"/>
    <p:sldLayoutId id="2147484071" r:id="rId28"/>
    <p:sldLayoutId id="2147484072" r:id="rId29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itubaaraulji-cpu/DailySmart-AI?utm_source=chatgpt.com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D7D7-E08B-16A5-CEC2-0A6EB96BA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4735" y="1189704"/>
            <a:ext cx="9823224" cy="2054942"/>
          </a:xfrm>
        </p:spPr>
        <p:txBody>
          <a:bodyPr>
            <a:normAutofit/>
          </a:bodyPr>
          <a:lstStyle/>
          <a:p>
            <a:br>
              <a:rPr lang="en-IN" sz="2800" spc="-25" dirty="0">
                <a:cs typeface="Calibri"/>
              </a:rPr>
            </a:br>
            <a:br>
              <a:rPr lang="en-IN" sz="2800" spc="-25" dirty="0">
                <a:cs typeface="Calibri"/>
              </a:rPr>
            </a:br>
            <a:r>
              <a:rPr lang="en-US" sz="2800" b="1" dirty="0"/>
              <a:t>IBM Bob Gujarat State level Hackathon Project Submission</a:t>
            </a:r>
            <a:br>
              <a:rPr lang="en-US" sz="2800" b="1" dirty="0"/>
            </a:b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FE6C5-4B72-2D9A-23ED-E12837E52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4734" y="3991897"/>
            <a:ext cx="10382865" cy="1435509"/>
          </a:xfrm>
        </p:spPr>
        <p:txBody>
          <a:bodyPr>
            <a:normAutofit/>
          </a:bodyPr>
          <a:lstStyle/>
          <a:p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“Exploring the Power of Agentic AI with IBM Granite and IBM Bob”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9342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41FBD-10B8-BEE5-FC02-6C52FE653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8026"/>
            <a:ext cx="10568354" cy="550114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Project Title: 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AI-Based Dairy Cooperative Supply Chain Optimization Platform</a:t>
            </a:r>
          </a:p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Domain:</a:t>
            </a:r>
            <a:r>
              <a:rPr lang="en-IN" sz="2800" dirty="0"/>
              <a:t> 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Economic Development </a:t>
            </a:r>
          </a:p>
          <a:p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8AE17C9-3F4D-57FF-626C-DAF765E01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069818"/>
              </p:ext>
            </p:extLst>
          </p:nvPr>
        </p:nvGraphicFramePr>
        <p:xfrm>
          <a:off x="791305" y="3429000"/>
          <a:ext cx="8224356" cy="30038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56089">
                  <a:extLst>
                    <a:ext uri="{9D8B030D-6E8A-4147-A177-3AD203B41FA5}">
                      <a16:colId xmlns:a16="http://schemas.microsoft.com/office/drawing/2014/main" val="2588378508"/>
                    </a:ext>
                  </a:extLst>
                </a:gridCol>
                <a:gridCol w="2056089">
                  <a:extLst>
                    <a:ext uri="{9D8B030D-6E8A-4147-A177-3AD203B41FA5}">
                      <a16:colId xmlns:a16="http://schemas.microsoft.com/office/drawing/2014/main" val="3298585130"/>
                    </a:ext>
                  </a:extLst>
                </a:gridCol>
                <a:gridCol w="2139001">
                  <a:extLst>
                    <a:ext uri="{9D8B030D-6E8A-4147-A177-3AD203B41FA5}">
                      <a16:colId xmlns:a16="http://schemas.microsoft.com/office/drawing/2014/main" val="2915015448"/>
                    </a:ext>
                  </a:extLst>
                </a:gridCol>
                <a:gridCol w="1973177">
                  <a:extLst>
                    <a:ext uri="{9D8B030D-6E8A-4147-A177-3AD203B41FA5}">
                      <a16:colId xmlns:a16="http://schemas.microsoft.com/office/drawing/2014/main" val="3227216964"/>
                    </a:ext>
                  </a:extLst>
                </a:gridCol>
              </a:tblGrid>
              <a:tr h="940845">
                <a:tc>
                  <a:txBody>
                    <a:bodyPr/>
                    <a:lstStyle/>
                    <a:p>
                      <a:r>
                        <a:rPr lang="en-IN" dirty="0"/>
                        <a:t>Student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Recent passport photo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Email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Mobile number</a:t>
                      </a:r>
                    </a:p>
                    <a:p>
                      <a:r>
                        <a:rPr lang="en-IN" dirty="0"/>
                        <a:t>[</a:t>
                      </a:r>
                      <a:r>
                        <a:rPr lang="en-IN" dirty="0" err="1"/>
                        <a:t>Whatsapp</a:t>
                      </a:r>
                      <a:r>
                        <a:rPr lang="en-IN" dirty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908510"/>
                  </a:ext>
                </a:extLst>
              </a:tr>
              <a:tr h="940845">
                <a:tc>
                  <a:txBody>
                    <a:bodyPr/>
                    <a:lstStyle/>
                    <a:p>
                      <a:r>
                        <a:rPr lang="en-IN" dirty="0"/>
                        <a:t>Maitree Raulji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maitubaaraulji</a:t>
                      </a:r>
                      <a:r>
                        <a:rPr lang="en-IN" dirty="0"/>
                        <a:t>@</a:t>
                      </a:r>
                    </a:p>
                    <a:p>
                      <a:r>
                        <a:rPr lang="en-IN" dirty="0"/>
                        <a:t>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8200063179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523264"/>
                  </a:ext>
                </a:extLst>
              </a:tr>
              <a:tr h="1122196">
                <a:tc>
                  <a:txBody>
                    <a:bodyPr/>
                    <a:lstStyle/>
                    <a:p>
                      <a:r>
                        <a:rPr lang="en-IN" dirty="0"/>
                        <a:t>Chaudhari Jayesh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chaudharijayesh661@gmail.com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9328903663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196732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D8D748C3-643B-28E9-7675-F34BEC69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258394" y="4444180"/>
            <a:ext cx="861322" cy="7695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BD3FEF-7593-CE7C-38E1-67A182355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393" y="5569974"/>
            <a:ext cx="861323" cy="86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05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1C58E-81DF-5705-9705-C122AFA7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644663"/>
            <a:ext cx="11599846" cy="1088358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IN" sz="2800" b="1" cap="none" dirty="0">
                <a:latin typeface="Arial" panose="020B0604020202020204" pitchFamily="34" charset="0"/>
                <a:cs typeface="Arial" panose="020B0604020202020204" pitchFamily="34" charset="0"/>
              </a:rPr>
              <a:t>roblem statement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C9EDE-DB92-BCB9-21E6-FB502B77A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07521"/>
            <a:ext cx="12001592" cy="449327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The Challenge: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Dairy cooperatives manage multiple activities such as milk collection, farmer records, payments, demand planning and transportation. When these activities are handled separately, it becomes difficult to get a complete view of daily operations.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Demand and supply mismatch can create surplus, shortage and avoidable wastage. Unplanned transportation routes can increase travel effort and operating cost, while fodder availability and future demand require timely planning.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Cooperative managers therefore need a centralized system that can convert operational information into clear and actionable insights.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16553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DFE8E-1F59-ECE8-299E-DAF658440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6" y="644663"/>
            <a:ext cx="11674009" cy="1088358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71A9F-5B0E-4EEC-CD90-45BD46FE5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35277"/>
            <a:ext cx="12001592" cy="471235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The Objective:</a:t>
            </a:r>
          </a:p>
          <a:p>
            <a:r>
              <a:rPr lang="en-IN" sz="2000" dirty="0"/>
              <a:t>   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Build a smart dairy cooperative management platform that can: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Milk Collection Monitoring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Record and monitor daily milk collection activities.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Farmer Management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Maintain farmer and cooperative member information in one place.</a:t>
            </a: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Payment Tracking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Track estimated farmer payouts and payment-related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Demand &amp; Supply Analysis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Compare milk availability with expected demand and visualize the gap.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Operational Optimization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Support route planning and operational cost awareness.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Predictive Planning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Support demand and fodder forecasting for better future planning.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Decision Support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Provide What-If analysis, Smart Alerts and an AI Assistant.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Dashboard Visualization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Present important KPIs, charts and operational indicators in a simple interface.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9126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14A16-ABBF-A351-EB30-B5A4C98A6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10" y="644663"/>
            <a:ext cx="11462194" cy="1088358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IN" sz="2800" b="1" cap="none" dirty="0">
                <a:latin typeface="Arial" panose="020B0604020202020204" pitchFamily="34" charset="0"/>
                <a:cs typeface="Arial" panose="020B0604020202020204" pitchFamily="34" charset="0"/>
              </a:rPr>
              <a:t>roposed solution: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2A690-3F4C-E014-9318-7F4A94155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04" y="1733021"/>
            <a:ext cx="12001592" cy="4844760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Smart Milk Collection Management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Digitally record and monitor farmer-wise milk collection, quantity, Fat %, and payment information. </a:t>
            </a: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Real-Time Dairy Dashboard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Provide a centralized dashboard to monitor milk collection, demand, supply, transport costs, quality, and cooperative performance. </a:t>
            </a: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AI Milk Production Forecasting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historical milk collection data to forecast upcoming production and help cooperatives plan future milk supply. </a:t>
            </a: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Smart Early Warning System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Detect important changes such as declining milk collection, supply-demand gaps, quality variations, and increasing transport costs. </a:t>
            </a: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AI Farmer Intelligence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individual farmer performance using production, quality, consistency, and collection trends.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4125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1620-848E-60FF-9C1E-9AF8698CF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913852"/>
            <a:ext cx="11113008" cy="84979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Proposed solution: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FBAB0-6E19-932F-593E-89078DEA9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158" y="1861969"/>
            <a:ext cx="11113008" cy="4705088"/>
          </a:xfrm>
        </p:spPr>
        <p:txBody>
          <a:bodyPr>
            <a:normAutofit/>
          </a:bodyPr>
          <a:lstStyle/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Farmer Performance Score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Generate a transparent 0–100 performance score to identify top-performing and attention-needed farmers. </a:t>
            </a: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Personalized Recommendations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Provide data-driven recommendations explaining what was detected, why it matters, and what action can be considered. </a:t>
            </a: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Demand &amp; Supply Analysis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Compare available milk supply with expected demand to help identify shortages or excess supply. </a:t>
            </a: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Transport Cost Monitoring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Track transportation expenses and highlight unusual increases that may affect cooperative operations.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1798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BD4C5-E629-1D4A-747C-357538FB6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Technology used: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059AF-072D-447B-4374-7B3DB08C9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IBM Bob platform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-For designing and orchestrating multi-agent workflows visually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IBM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Grainte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model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 for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ibm-granite-3-2-8b – For natural language understanding, reasoning, and personalization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IBM Cloud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– It provides the infrastructure to build, deploy, and scale the Nutrition Agent efficiently. IBM Cloud enables a reliable, secure, and scalable environment for deploying the Nutrition Agent.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8549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462D8-76F4-DF95-E515-D2B2FC97C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Required Files created using IBM bob: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7AFA3B-610D-F613-1851-5479B5C87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982" y="2116138"/>
            <a:ext cx="9771876" cy="44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77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8B760-0468-5751-D992-B287A7BEC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IBM Bob screenshots: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9C68BB-DBC3-DAF8-3D6D-5CBB0E346E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6581" y="2116138"/>
            <a:ext cx="9527457" cy="429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248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B61F5-5A9D-C75C-DCBE-439534828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IBM Bob screenshots: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CCF735-2E39-E110-DAB0-FC139D5789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7923" y="2116138"/>
            <a:ext cx="9202993" cy="429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879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720FF-AA60-FF45-0F6A-BE139FAD4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6"/>
            <a:ext cx="11113008" cy="718302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IBM Bob screenshots: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BF4E4D-BEF0-1B35-FB01-F93E3F780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265" y="1946787"/>
            <a:ext cx="9429135" cy="424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00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488FF-4045-EFBA-EDF9-4462D32A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IBM Bob screenshots: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3A40C8-624A-A94D-664C-721DC20628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424" y="2054942"/>
            <a:ext cx="941930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035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9C8D9-4208-29E2-3397-B84097B58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IBM Bob screenshots:</a:t>
            </a:r>
            <a:endParaRPr lang="en-IN" sz="28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7CE3A55-48E1-163E-819C-EA573D276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7252" y="2116137"/>
            <a:ext cx="9527458" cy="449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98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3FD66-F5F6-7B1E-6E93-E739E83F9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Architecture blueprint for IBM bob:</a:t>
            </a:r>
            <a:br>
              <a:rPr lang="en-US" sz="6000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D306E4-91DD-31AB-6481-FEC18741B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5060" y="1986116"/>
            <a:ext cx="10211263" cy="45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30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CD0CA-691D-3010-0FE1-2D31C7C33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Role of Agentic AI in the solution:</a:t>
            </a:r>
            <a:br>
              <a:rPr lang="en-IN" sz="6000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2ABCA-9D10-0E16-0A06-ADF66DC6E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Agentic AI enables the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DailySmart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AI platform to function as an intelligent, proactive, and goal-driven dairy management system rather than a simple data-recording application. Using IBM watsonx.ai and IBM Granite models, the system can coordinate specialized AI agents for tasks such as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analyzing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milk collection data, forecasting production, monitoring demand and supply, detecting early operational risks,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analyzing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farmer performance, and generating actionable recommendations. This multi-agent approach allows different agents to work collaboratively, where each agent focuses on a specific dairy-management task while contributing to overall decision-making.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Agentic AI also provides context awareness, allowing the system to consider farmer-wise collection history, milk quality, production trends, demand, supply, and operational information to generate relevant insights. It supports real-time adaptation, continuously updating analysis and recommendations whenever new dairy data is entered.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9710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C1A83-C141-4A8C-EA7D-4A79FCDC7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Project Output Screenshot: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444E73C-D146-836D-49C6-3C82A5C194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097" y="2015614"/>
            <a:ext cx="10019071" cy="436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103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F918C-6E4E-2A9B-2ACD-6F99F8219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Project Output Screenshot: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2E952D-6E7C-4E65-5D67-54B10FBF0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7084" y="2116138"/>
            <a:ext cx="10117393" cy="44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808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3E499-2EBD-CD4C-D402-FB87B6F0F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Project Output Screenshot:</a:t>
            </a:r>
            <a:endParaRPr lang="en-IN" sz="28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AE3DD5F-D197-B8CF-8D7A-5183D7FA7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1" y="2116138"/>
            <a:ext cx="10166554" cy="44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64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CE41E-9BB0-F66E-3E7E-1CB02D6D2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Project Output Screenshot:</a:t>
            </a:r>
            <a:endParaRPr lang="en-IN" sz="28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67C61C5-665B-C564-05CC-FAA1206AD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924" y="2116138"/>
            <a:ext cx="10127224" cy="431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45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4A108-B606-9603-B64E-36C66B20D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Project Output Screenshot: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C13665-CCAD-BC30-B17F-7C3B4D4086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761" y="2116138"/>
            <a:ext cx="10215716" cy="44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935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B1B2C-2D14-6EF7-5DDA-C6DF886C7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Project Output Screenshot: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38FD1E-E30E-78FB-3D7C-22161CB3D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6245" y="2153264"/>
            <a:ext cx="8052620" cy="434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718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E2AF8-AA59-1420-A995-D2C82380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The Wow Factor Behind the Project:</a:t>
            </a:r>
            <a:br>
              <a:rPr lang="en-US" sz="6000" b="1" dirty="0">
                <a:sym typeface="Times New Roman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DCBD1-A61F-2902-5EC4-317699ED9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956619"/>
            <a:ext cx="11013670" cy="4610437"/>
          </a:xfrm>
        </p:spPr>
        <p:txBody>
          <a:bodyPr>
            <a:normAutofit fontScale="92500" lnSpcReduction="10000"/>
          </a:bodyPr>
          <a:lstStyle/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200" b="1" dirty="0"/>
              <a:t> 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Future Milk Prediction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Predicts upcoming milk production using historical collection data. </a:t>
            </a: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Early Problem Detection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Identifies falling milk collection, supply-demand gaps, quality changes, and rising transport costs early. </a:t>
            </a: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 Farmer Intelligence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Gives each farmer a performance score, trend, status, and personalized data-based insights. </a:t>
            </a: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 Agentic AI with IBM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Uses IBM watsonx.ai + IBM Granite models to support intelligent agents for analysis, forecasting, risk detection, and recommendations. </a:t>
            </a: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 Smart Decision Making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Converts raw dairy data → insights → predictions → warnings → recommendations → decisions, helping cooperatives manage operations more intelligently.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97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58F45-82E0-FFDA-6D01-787440CB5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Novelty and Uniqueness:</a:t>
            </a:r>
            <a:br>
              <a:rPr lang="en-IN" sz="6000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231B0-53EA-71CE-29F2-EACA2B52A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61968"/>
            <a:ext cx="10875756" cy="470508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The proposed </a:t>
            </a:r>
            <a:r>
              <a:rPr lang="en-IN" sz="2600" dirty="0" err="1">
                <a:latin typeface="Arial" panose="020B0604020202020204" pitchFamily="34" charset="0"/>
                <a:cs typeface="Arial" panose="020B0604020202020204" pitchFamily="34" charset="0"/>
              </a:rPr>
              <a:t>DailySmart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 AI stands out by combining AI-powered forecasting, early risk detection, farmer intelligence, and smart decision support into one integrated dairy cooperative platform.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Arial" panose="020B0604020202020204" pitchFamily="34" charset="0"/>
                <a:cs typeface="Arial" panose="020B0604020202020204" pitchFamily="34" charset="0"/>
              </a:rPr>
              <a:t> Predictive Milk Intelligence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 – Uses historical milk collection data to forecast future milk production and support better supply planning.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Arial" panose="020B0604020202020204" pitchFamily="34" charset="0"/>
                <a:cs typeface="Arial" panose="020B0604020202020204" pitchFamily="34" charset="0"/>
              </a:rPr>
              <a:t> Proactive Early Warning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 – Detects important changes such as declining collection, supply-demand gaps, quality variations, and rising transport costs before they become major operational issues.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Arial" panose="020B0604020202020204" pitchFamily="34" charset="0"/>
                <a:cs typeface="Arial" panose="020B0604020202020204" pitchFamily="34" charset="0"/>
              </a:rPr>
              <a:t> Farmer-Level Intelligence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 – Goes beyond basic farmer records by </a:t>
            </a:r>
            <a:r>
              <a:rPr lang="en-IN" sz="2600" dirty="0" err="1">
                <a:latin typeface="Arial" panose="020B0604020202020204" pitchFamily="34" charset="0"/>
                <a:cs typeface="Arial" panose="020B0604020202020204" pitchFamily="34" charset="0"/>
              </a:rPr>
              <a:t>analyzing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 individual performance, collection trends, quality, and generating a transparent performance score.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Arial" panose="020B0604020202020204" pitchFamily="34" charset="0"/>
                <a:cs typeface="Arial" panose="020B0604020202020204" pitchFamily="34" charset="0"/>
              </a:rPr>
              <a:t> Agentic AI with IBM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 – Uses IBM watsonx.ai and IBM Granite models to support intelligent agents that can coordinate analysis, forecasting, risk identification, and recommendations.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2001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EF63A-8A51-41AE-F224-638D42C30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Future Scope: </a:t>
            </a:r>
            <a:br>
              <a:rPr lang="en-US" sz="6000" b="1" dirty="0">
                <a:sym typeface="Times New Roman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70A9F-F990-7D27-AB32-E661FF1E5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1.AI-Based Milk Demand &amp; Supply Prediction –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system can be further enhanced using advanced Artificial Intelligence and Machine Learning algorithms to predict milk demand and supply more accurately. By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analyzing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historical sales, seasonal variations, customer demand, and production patterns, the platform can help dairy cooperatives maintain an optimal balance between milk collection and market demand, reducing wastage and improving profitability.</a:t>
            </a:r>
          </a:p>
          <a:p>
            <a:pPr>
              <a:lnSpc>
                <a:spcPct val="10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2. Smart Transportation &amp; Route Optimization –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 the future, the platform can include AI-based route optimization to improve the transportation of milk from farmers and collection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centers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to dairy processing units and markets. The system can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delivery schedules, traffic conditions, distance, and milk quantity to suggest efficient routes, reducing transportation time, operational costs, and the risk of milk spoilage.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781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5AF0-3D62-981A-2C3D-51D74FB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Git Hub Link:</a:t>
            </a:r>
            <a:br>
              <a:rPr lang="en-US" sz="6000" b="1" dirty="0">
                <a:sym typeface="Times New Roman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0393F-DDA4-45E4-8816-2DF248FCB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078781"/>
          </a:xfrm>
        </p:spPr>
        <p:txBody>
          <a:bodyPr/>
          <a:lstStyle/>
          <a:p>
            <a:endParaRPr lang="en-IN" dirty="0">
              <a:hlinkClick r:id="rId2"/>
            </a:endParaRPr>
          </a:p>
          <a:p>
            <a:endParaRPr lang="en-IN" dirty="0">
              <a:hlinkClick r:id="rId2"/>
            </a:endParaRPr>
          </a:p>
          <a:p>
            <a:r>
              <a:rPr lang="en-IN" dirty="0">
                <a:hlinkClick r:id="rId2"/>
              </a:rPr>
              <a:t> </a:t>
            </a:r>
            <a:r>
              <a:rPr lang="en-IN" dirty="0" err="1">
                <a:hlinkClick r:id="rId2"/>
              </a:rPr>
              <a:t>Github</a:t>
            </a:r>
            <a:r>
              <a:rPr lang="en-IN" dirty="0">
                <a:hlinkClick r:id="rId2"/>
              </a:rPr>
              <a:t> link URL :   https://github.com/maitubaaraulji-cpu/DailySmart-AI</a:t>
            </a:r>
            <a:endParaRPr lang="en-IN" dirty="0"/>
          </a:p>
          <a:p>
            <a:r>
              <a:rPr lang="en-IN" dirty="0"/>
              <a:t> </a:t>
            </a:r>
            <a:r>
              <a:rPr lang="en-IN" dirty="0">
                <a:hlinkClick r:id="rId2"/>
              </a:rPr>
              <a:t>:   https://github.com/maitubaaraulji-cpu/DailySmart-AI</a:t>
            </a:r>
            <a:endParaRPr lang="en-IN" dirty="0"/>
          </a:p>
          <a:p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7267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EE552-5088-2EDA-61DB-AA1E4F616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Skills build profile screen shot:</a:t>
            </a: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30501-F479-BB5B-3EB2-1E1F80ED4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02426"/>
            <a:ext cx="5184648" cy="617607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IBM Skills Build Profile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2225BC-D8AD-21B8-B02E-AB6A4D592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02426"/>
            <a:ext cx="5183188" cy="617607"/>
          </a:xfrm>
        </p:spPr>
        <p:txBody>
          <a:bodyPr/>
          <a:lstStyle/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IBM Skills Build Profile</a:t>
            </a:r>
          </a:p>
          <a:p>
            <a:endParaRPr lang="en-IN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63CC8658-FAE7-9869-DC93-250F2A89EFAF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680499" y="2981325"/>
            <a:ext cx="4882640" cy="3586163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63CBBEC-7351-AEE1-B508-004E5270B33A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3"/>
          <a:stretch>
            <a:fillRect/>
          </a:stretch>
        </p:blipFill>
        <p:spPr>
          <a:xfrm>
            <a:off x="6191250" y="3055088"/>
            <a:ext cx="5183188" cy="343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127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BB02B-208D-A27A-9ACB-0C87755C7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Arial"/>
              </a:rPr>
              <a:t>Certificates Earned:</a:t>
            </a: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46A6E-6C08-83B8-46F9-E0E96EAE0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1927124"/>
            <a:ext cx="5184648" cy="89291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Credly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Certificate: (Getting Started with Artificial Intelligence)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797EF7-0FC0-63DE-AC9F-3C2549AE6B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1927124"/>
            <a:ext cx="5183188" cy="892909"/>
          </a:xfrm>
        </p:spPr>
        <p:txBody>
          <a:bodyPr/>
          <a:lstStyle/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IBM BOB Certificate</a:t>
            </a:r>
            <a:endParaRPr lang="en-IN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7" name="Content Placeholder 8">
            <a:extLst>
              <a:ext uri="{FF2B5EF4-FFF2-40B4-BE49-F238E27FC236}">
                <a16:creationId xmlns:a16="http://schemas.microsoft.com/office/drawing/2014/main" id="{5BA54BEA-CB37-F21E-1E9F-E7EFD7A607A3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6478463" y="2981326"/>
            <a:ext cx="4895214" cy="3557126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0DCB121F-B834-8B56-05B0-3772F665937D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3"/>
          <a:stretch>
            <a:fillRect/>
          </a:stretch>
        </p:blipFill>
        <p:spPr>
          <a:xfrm>
            <a:off x="640172" y="2981326"/>
            <a:ext cx="4895214" cy="355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788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08DCE-6BF7-5ECA-1E77-2D5D2FCBB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Arial"/>
              </a:rPr>
              <a:t>Certificates Earned:</a:t>
            </a: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B26C0-1F8D-B43A-E8D0-C4277582E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133600"/>
            <a:ext cx="5184648" cy="68643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Credly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 Certificate: (Getting Started with Artificial Intelligence)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D666C1-9CFE-3860-2126-FD00F30367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133600"/>
            <a:ext cx="5183188" cy="686433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IBM BOB Certificate</a:t>
            </a:r>
            <a:endParaRPr lang="en-IN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545A1C01-A101-E893-99F5-D9887C6F5E1F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3"/>
          <a:stretch>
            <a:fillRect/>
          </a:stretch>
        </p:blipFill>
        <p:spPr>
          <a:xfrm>
            <a:off x="6474274" y="2981325"/>
            <a:ext cx="4900163" cy="3586162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DA6E5EDE-A8A4-55B2-C845-E0D9BE49A549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4"/>
          <a:stretch>
            <a:fillRect/>
          </a:stretch>
        </p:blipFill>
        <p:spPr>
          <a:xfrm>
            <a:off x="708742" y="2981325"/>
            <a:ext cx="4826154" cy="358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942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CEF56-FE86-FEF1-A729-5F0EDF1C2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2"/>
            <a:ext cx="11045952" cy="4979389"/>
          </a:xfrm>
        </p:spPr>
        <p:txBody>
          <a:bodyPr/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                      Thank you </a:t>
            </a:r>
          </a:p>
        </p:txBody>
      </p:sp>
    </p:spTree>
    <p:extLst>
      <p:ext uri="{BB962C8B-B14F-4D97-AF65-F5344CB8AC3E}">
        <p14:creationId xmlns:p14="http://schemas.microsoft.com/office/powerpoint/2010/main" val="1092460424"/>
      </p:ext>
    </p:extLst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589</TotalTime>
  <Words>1271</Words>
  <Application>Microsoft Office PowerPoint</Application>
  <PresentationFormat>Widescreen</PresentationFormat>
  <Paragraphs>101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Neue Haas Grotesk Text Pro</vt:lpstr>
      <vt:lpstr>Times New Roman</vt:lpstr>
      <vt:lpstr>Wingdings</vt:lpstr>
      <vt:lpstr>Axis</vt:lpstr>
      <vt:lpstr>  IBM Bob Gujarat State level Hackathon Project Submission </vt:lpstr>
      <vt:lpstr>PowerPoint Presentation</vt:lpstr>
      <vt:lpstr>Problem statement:</vt:lpstr>
      <vt:lpstr>Objective:</vt:lpstr>
      <vt:lpstr>Proposed solution:</vt:lpstr>
      <vt:lpstr>Proposed solution:</vt:lpstr>
      <vt:lpstr>Technology used: </vt:lpstr>
      <vt:lpstr>Required Files created using IBM bob:</vt:lpstr>
      <vt:lpstr>IBM Bob screenshots:</vt:lpstr>
      <vt:lpstr>IBM Bob screenshots:</vt:lpstr>
      <vt:lpstr>IBM Bob screenshots:</vt:lpstr>
      <vt:lpstr>IBM Bob screenshots:</vt:lpstr>
      <vt:lpstr>IBM Bob screenshots:</vt:lpstr>
      <vt:lpstr>Architecture blueprint for IBM bob: </vt:lpstr>
      <vt:lpstr>Role of Agentic AI in the solution: </vt:lpstr>
      <vt:lpstr>Project Output Screenshot:</vt:lpstr>
      <vt:lpstr>Project Output Screenshot:</vt:lpstr>
      <vt:lpstr>Project Output Screenshot:</vt:lpstr>
      <vt:lpstr>Project Output Screenshot:</vt:lpstr>
      <vt:lpstr>Project Output Screenshot:</vt:lpstr>
      <vt:lpstr>Project Output Screenshot:</vt:lpstr>
      <vt:lpstr>The Wow Factor Behind the Project: </vt:lpstr>
      <vt:lpstr>Novelty and Uniqueness: </vt:lpstr>
      <vt:lpstr>Future Scope:  </vt:lpstr>
      <vt:lpstr>Git Hub Link: </vt:lpstr>
      <vt:lpstr>Skills build profile screen shot:</vt:lpstr>
      <vt:lpstr>Certificates Earned:</vt:lpstr>
      <vt:lpstr>Certificates Earned:</vt:lpstr>
      <vt:lpstr>                         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Maitribaa Raulji</dc:creator>
  <cp:keywords/>
  <dc:description>generated using python-pptx</dc:description>
  <cp:lastModifiedBy>Maitribaa Raulji</cp:lastModifiedBy>
  <cp:revision>9</cp:revision>
  <dcterms:created xsi:type="dcterms:W3CDTF">2013-01-27T09:14:16Z</dcterms:created>
  <dcterms:modified xsi:type="dcterms:W3CDTF">2026-09-12T14:01:44Z</dcterms:modified>
  <cp:category/>
</cp:coreProperties>
</file>